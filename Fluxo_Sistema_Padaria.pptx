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A2F28"/>
                </a:solidFill>
                <a:latin typeface="Segoe UI"/>
              </a:rPr>
              <a:t>Sistema de Pedidos da Padaria — do WhatsApp ao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6B60"/>
                </a:solidFill>
                <a:latin typeface="Segoe UI"/>
              </a:rPr>
              <a:t>Chatbot de atendimento, banco de dados, fila de produção, painel financeiro restrito e evolução para Machine Learning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89720" y="384048"/>
            <a:ext cx="338328" cy="0"/>
          </a:xfrm>
          <a:prstGeom prst="line">
            <a:avLst/>
          </a:prstGeom>
          <a:ln w="20320">
            <a:solidFill>
              <a:srgbClr val="B4682A"/>
            </a:solidFill>
            <a:round/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82912" y="274320"/>
            <a:ext cx="1051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fluxo atual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625328" y="384048"/>
            <a:ext cx="338328" cy="0"/>
          </a:xfrm>
          <a:prstGeom prst="line">
            <a:avLst/>
          </a:prstGeom>
          <a:ln w="20320">
            <a:solidFill>
              <a:srgbClr val="7A5AA8"/>
            </a:solidFill>
            <a:prstDash val="dash"/>
            <a:round/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018520" y="274320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etapa futura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59536"/>
            <a:ext cx="11274552" cy="1298448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941832"/>
            <a:ext cx="256032" cy="256032"/>
          </a:xfrm>
          <a:prstGeom prst="ellipse">
            <a:avLst/>
          </a:prstGeom>
          <a:solidFill>
            <a:srgbClr val="1F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92354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663E"/>
                </a:solidFill>
                <a:latin typeface="Segoe UI"/>
              </a:rPr>
              <a:t>ATENDIMENTO NO WHATSAPP   ·   o cliente conversa com o chatbot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11274552" cy="1298448"/>
          </a:xfrm>
          <a:prstGeom prst="roundRect">
            <a:avLst>
              <a:gd name="adj" fmla="val 6000"/>
            </a:avLst>
          </a:prstGeom>
          <a:solidFill>
            <a:srgbClr val="FBF1E7"/>
          </a:solidFill>
          <a:ln w="12700">
            <a:solidFill>
              <a:srgbClr val="EBD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2459736"/>
            <a:ext cx="256032" cy="256032"/>
          </a:xfrm>
          <a:prstGeom prst="ellipse">
            <a:avLst/>
          </a:prstGeom>
          <a:solidFill>
            <a:srgbClr val="B46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414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4517"/>
                </a:solidFill>
                <a:latin typeface="Segoe UI"/>
              </a:rPr>
              <a:t>PROCESSAMENTO E OPERAÇÃO   ·   o pedido vira dado e entra na produção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1261872"/>
            <a:ext cx="239572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663E"/>
                </a:solidFill>
                <a:latin typeface="Segoe UI"/>
              </a:rPr>
              <a:t>👤  Cliente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Chama a padaria pelo WhatsApp e inicia a conversa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1261872"/>
            <a:ext cx="239572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663E"/>
                </a:solidFill>
                <a:latin typeface="Segoe UI"/>
              </a:rPr>
              <a:t>🤖  Bot oferta os produtos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Envia o cardápio, preços e as ofertas do 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61872"/>
            <a:ext cx="239572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663E"/>
                </a:solidFill>
                <a:latin typeface="Segoe UI"/>
              </a:rPr>
              <a:t>🛒  Cliente faz o pedido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Escolhe itens, quantidade e forma de entrega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1261872"/>
            <a:ext cx="239572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663E"/>
                </a:solidFill>
                <a:latin typeface="Segoe UI"/>
              </a:rPr>
              <a:t>✅  Bot confirma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Resume o pedido, o valor e o pagamento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27248" y="1536192"/>
            <a:ext cx="283464" cy="237744"/>
          </a:xfrm>
          <a:prstGeom prst="rightArrow">
            <a:avLst/>
          </a:prstGeom>
          <a:solidFill>
            <a:srgbClr val="1F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5952744" y="1536192"/>
            <a:ext cx="283464" cy="237744"/>
          </a:xfrm>
          <a:prstGeom prst="rightArrow">
            <a:avLst/>
          </a:prstGeom>
          <a:solidFill>
            <a:srgbClr val="1F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778240" y="1536192"/>
            <a:ext cx="283464" cy="237744"/>
          </a:xfrm>
          <a:prstGeom prst="rightArrow">
            <a:avLst/>
          </a:prstGeom>
          <a:solidFill>
            <a:srgbClr val="1F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10195560" y="2167127"/>
            <a:ext cx="274320" cy="201168"/>
          </a:xfrm>
          <a:prstGeom prst="downArrow">
            <a:avLst/>
          </a:prstGeom>
          <a:solidFill>
            <a:srgbClr val="B46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2779776"/>
            <a:ext cx="239572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BD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4517"/>
                </a:solidFill>
                <a:latin typeface="Segoe UI"/>
              </a:rPr>
              <a:t>🥖  Produção na padaria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A padeira prepara, entrega e dá baixa no pedido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83864" y="2779776"/>
            <a:ext cx="239572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BD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4517"/>
                </a:solidFill>
                <a:latin typeface="Segoe UI"/>
              </a:rPr>
              <a:t>📋  Fila de pedidos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O pedido entra na ordem de preparo e entrega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779776"/>
            <a:ext cx="2395728" cy="786384"/>
          </a:xfrm>
          <a:prstGeom prst="roundRect">
            <a:avLst>
              <a:gd name="adj" fmla="val 14000"/>
            </a:avLst>
          </a:prstGeom>
          <a:solidFill>
            <a:srgbClr val="B4682A"/>
          </a:solidFill>
          <a:ln w="12700">
            <a:solidFill>
              <a:srgbClr val="7A4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🗄️  BANCO DE DADOS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F7E6D6"/>
                </a:solidFill>
                <a:latin typeface="Segoe UI"/>
              </a:rPr>
              <a:t>Pedidos, clientes, produtos e movimento financeiro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6" y="2779776"/>
            <a:ext cx="239572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BD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4517"/>
                </a:solidFill>
                <a:latin typeface="Segoe UI"/>
              </a:rPr>
              <a:t>⚙️  Bot processa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Valida os dados e registra o pedido no sistema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3127248" y="3054096"/>
            <a:ext cx="283464" cy="237744"/>
          </a:xfrm>
          <a:prstGeom prst="leftArrow">
            <a:avLst/>
          </a:prstGeom>
          <a:solidFill>
            <a:srgbClr val="B46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ft Arrow 27"/>
          <p:cNvSpPr/>
          <p:nvPr/>
        </p:nvSpPr>
        <p:spPr>
          <a:xfrm>
            <a:off x="5952744" y="3054096"/>
            <a:ext cx="283464" cy="237744"/>
          </a:xfrm>
          <a:prstGeom prst="leftArrow">
            <a:avLst/>
          </a:prstGeom>
          <a:solidFill>
            <a:srgbClr val="B46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 Arrow 28"/>
          <p:cNvSpPr/>
          <p:nvPr/>
        </p:nvSpPr>
        <p:spPr>
          <a:xfrm>
            <a:off x="8778240" y="3054096"/>
            <a:ext cx="283464" cy="237744"/>
          </a:xfrm>
          <a:prstGeom prst="leftArrow">
            <a:avLst/>
          </a:prstGeom>
          <a:solidFill>
            <a:srgbClr val="B46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5532120" cy="2487168"/>
          </a:xfrm>
          <a:prstGeom prst="roundRect">
            <a:avLst>
              <a:gd name="adj" fmla="val 5000"/>
            </a:avLst>
          </a:prstGeom>
          <a:solidFill>
            <a:srgbClr val="ECF3FA"/>
          </a:solidFill>
          <a:ln w="12700">
            <a:solidFill>
              <a:srgbClr val="C8D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" y="4114800"/>
            <a:ext cx="256032" cy="25603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096512"/>
            <a:ext cx="4754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4C77"/>
                </a:solidFill>
                <a:latin typeface="Segoe UI"/>
              </a:rPr>
              <a:t>PAINEL WEB DA PADEIRA   ·   🔒 acesso exclusivo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023360"/>
            <a:ext cx="5532120" cy="2487168"/>
          </a:xfrm>
          <a:prstGeom prst="roundRect">
            <a:avLst>
              <a:gd name="adj" fmla="val 5000"/>
            </a:avLst>
          </a:prstGeom>
          <a:solidFill>
            <a:srgbClr val="F4F0FA"/>
          </a:solidFill>
          <a:ln w="15875">
            <a:solidFill>
              <a:srgbClr val="D6C9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4114800"/>
            <a:ext cx="256032" cy="256032"/>
          </a:xfrm>
          <a:prstGeom prst="ellipse">
            <a:avLst/>
          </a:prstGeom>
          <a:solidFill>
            <a:srgbClr val="7A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4096512"/>
            <a:ext cx="4754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3A75"/>
                </a:solidFill>
                <a:latin typeface="Segoe UI"/>
              </a:rPr>
              <a:t>MACHINE LEARNING   ·   evolução futura do projeto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480560"/>
            <a:ext cx="512978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D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4C77"/>
                </a:solidFill>
                <a:latin typeface="Segoe UI"/>
              </a:rPr>
              <a:t>🔐  Login restrito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>
                <a:solidFill>
                  <a:srgbClr val="7C6B60"/>
                </a:solidFill>
                <a:latin typeface="Segoe UI"/>
              </a:rPr>
              <a:t>Somente a padeira acessa o site do negócio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57216"/>
            <a:ext cx="512978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D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4C77"/>
                </a:solidFill>
                <a:latin typeface="Segoe UI"/>
              </a:rPr>
              <a:t>📊  Dashboard financeiro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>
                <a:solidFill>
                  <a:srgbClr val="7C6B60"/>
                </a:solidFill>
                <a:latin typeface="Segoe UI"/>
              </a:rPr>
              <a:t>Faturamento, ticket médio, custos e formas de pagamento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833872"/>
            <a:ext cx="512978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D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4C77"/>
                </a:solidFill>
                <a:latin typeface="Segoe UI"/>
              </a:rPr>
              <a:t>🧾  Pedidos em tempo real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>
                <a:solidFill>
                  <a:srgbClr val="7C6B60"/>
                </a:solidFill>
                <a:latin typeface="Segoe UI"/>
              </a:rPr>
              <a:t>Fila do dia, status de produção e histórico de vendas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480560"/>
            <a:ext cx="5129783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C9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3A75"/>
                </a:solidFill>
                <a:latin typeface="Segoe UI"/>
              </a:rPr>
              <a:t>🗃️  Histórico do banco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>
                <a:solidFill>
                  <a:srgbClr val="7C6B60"/>
                </a:solidFill>
                <a:latin typeface="Segoe UI"/>
              </a:rPr>
              <a:t>Vendas, sazonalidade e comportamento de compra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175504"/>
            <a:ext cx="5129783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C9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3A75"/>
                </a:solidFill>
                <a:latin typeface="Segoe UI"/>
              </a:rPr>
              <a:t>🧠  Modelo preditivo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>
                <a:solidFill>
                  <a:srgbClr val="7C6B60"/>
                </a:solidFill>
                <a:latin typeface="Segoe UI"/>
              </a:rPr>
              <a:t>Aprende com todo o histórico acumulado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870448"/>
            <a:ext cx="5129783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C9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36576" bIns="3657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3A75"/>
                </a:solidFill>
                <a:latin typeface="Segoe UI"/>
              </a:rPr>
              <a:t>🔮  Previsões no chatbot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>
                <a:solidFill>
                  <a:srgbClr val="7C6B60"/>
                </a:solidFill>
                <a:latin typeface="Segoe UI"/>
              </a:rPr>
              <a:t>Demanda por produto e saldo financeiro projetado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8865108" y="5029200"/>
            <a:ext cx="201168" cy="128016"/>
          </a:xfrm>
          <a:prstGeom prst="downArrow">
            <a:avLst/>
          </a:prstGeom>
          <a:solidFill>
            <a:srgbClr val="7A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8865108" y="5724144"/>
            <a:ext cx="201168" cy="128016"/>
          </a:xfrm>
          <a:prstGeom prst="downArrow">
            <a:avLst/>
          </a:prstGeom>
          <a:solidFill>
            <a:srgbClr val="7A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H="1">
            <a:off x="3200400" y="3675887"/>
            <a:ext cx="4306824" cy="347473"/>
          </a:xfrm>
          <a:prstGeom prst="line">
            <a:avLst/>
          </a:prstGeom>
          <a:ln w="20320">
            <a:solidFill>
              <a:srgbClr val="2F6FA8"/>
            </a:solidFill>
            <a:round/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507224" y="3675887"/>
            <a:ext cx="1453896" cy="347473"/>
          </a:xfrm>
          <a:prstGeom prst="line">
            <a:avLst/>
          </a:prstGeom>
          <a:ln w="20320">
            <a:solidFill>
              <a:srgbClr val="7A5AA8"/>
            </a:solidFill>
            <a:prstDash val="dash"/>
            <a:round/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73552" y="3712463"/>
            <a:ext cx="17830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D4C77"/>
                </a:solidFill>
                <a:latin typeface="Segoe UI"/>
              </a:rPr>
              <a:t>alimenta o site da padeira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3712463"/>
            <a:ext cx="20116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23A75"/>
                </a:solidFill>
                <a:latin typeface="Segoe UI"/>
              </a:rPr>
              <a:t>histórico para o modelo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530584" y="6135624"/>
            <a:ext cx="429768" cy="0"/>
          </a:xfrm>
          <a:prstGeom prst="line">
            <a:avLst/>
          </a:prstGeom>
          <a:ln w="19050">
            <a:solidFill>
              <a:srgbClr val="7A5AA8"/>
            </a:solidFill>
            <a:prstDash val="dash"/>
            <a:round/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960352" y="1655064"/>
            <a:ext cx="0" cy="4480560"/>
          </a:xfrm>
          <a:prstGeom prst="line">
            <a:avLst/>
          </a:prstGeom>
          <a:ln w="19050">
            <a:solidFill>
              <a:srgbClr val="7A5AA8"/>
            </a:solidFill>
            <a:prstDash val="dash"/>
            <a:round/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1530584" y="1655064"/>
            <a:ext cx="429768" cy="0"/>
          </a:xfrm>
          <a:prstGeom prst="line">
            <a:avLst/>
          </a:prstGeom>
          <a:ln w="19050">
            <a:solidFill>
              <a:srgbClr val="7A5AA8"/>
            </a:solidFill>
            <a:prstDash val="dash"/>
            <a:round/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006840" y="6455664"/>
            <a:ext cx="2834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23A75"/>
                </a:solidFill>
                <a:latin typeface="Segoe UI"/>
              </a:rPr>
              <a:t>as previsões voltam para o chatbot 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6492240"/>
            <a:ext cx="78638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6B60"/>
                </a:solidFill>
                <a:latin typeface="Segoe UI"/>
              </a:rPr>
              <a:t>Fluxo contínuo: cada pedido do WhatsApp alimenta o banco de dados, que abastece a fila de produção e o painel financeiro da padeira.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